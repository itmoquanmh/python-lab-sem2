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4" r:id="rId2"/>
  </p:sldMasterIdLst>
  <p:notesMasterIdLst>
    <p:notesMasterId r:id="rId12"/>
  </p:notesMasterIdLst>
  <p:sldIdLst>
    <p:sldId id="256" r:id="rId3"/>
    <p:sldId id="257" r:id="rId4"/>
    <p:sldId id="263" r:id="rId5"/>
    <p:sldId id="258" r:id="rId6"/>
    <p:sldId id="262" r:id="rId7"/>
    <p:sldId id="260" r:id="rId8"/>
    <p:sldId id="268" r:id="rId9"/>
    <p:sldId id="267" r:id="rId10"/>
    <p:sldId id="26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5" roundtripDataSignature="AMtx7miXrvHxs8N/zoKN2q6/1KalVPCN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82" y="77"/>
      </p:cViewPr>
      <p:guideLst>
        <p:guide orient="horz" pos="1611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9296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3342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465703E0-F43E-46A9-46D7-C021244D6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B1DF295B-5A34-B9A7-02F3-70237EA994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0058166D-DBB8-0058-2062-D3BFCC081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4676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642B7C41-05BE-039C-D27B-00A9BE1C4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8B05EEF-EBBC-0102-B6EA-F9CF413F3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53F41B36-6199-E9AF-B6F8-EED128291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8167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670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8"/>
          <p:cNvSpPr txBox="1">
            <a:spLocks noGrp="1"/>
          </p:cNvSpPr>
          <p:nvPr>
            <p:ph type="subTitle" idx="1"/>
          </p:nvPr>
        </p:nvSpPr>
        <p:spPr>
          <a:xfrm>
            <a:off x="1371600" y="4599335"/>
            <a:ext cx="6400800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None/>
              <a:defRPr>
                <a:solidFill>
                  <a:srgbClr val="888CC5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None/>
              <a:defRPr>
                <a:solidFill>
                  <a:srgbClr val="888CC5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None/>
              <a:defRPr>
                <a:solidFill>
                  <a:srgbClr val="888CC5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8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8"/>
          <p:cNvSpPr txBox="1">
            <a:spLocks noGrp="1"/>
          </p:cNvSpPr>
          <p:nvPr>
            <p:ph type="title"/>
          </p:nvPr>
        </p:nvSpPr>
        <p:spPr>
          <a:xfrm>
            <a:off x="1371600" y="2926326"/>
            <a:ext cx="6400800" cy="705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2"/>
          </p:nvPr>
        </p:nvSpPr>
        <p:spPr>
          <a:xfrm>
            <a:off x="1371600" y="3637205"/>
            <a:ext cx="6400800" cy="462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764693" y="997421"/>
            <a:ext cx="5965438" cy="1488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765697" y="2571750"/>
            <a:ext cx="5965825" cy="1652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subTitle" idx="1"/>
          </p:nvPr>
        </p:nvSpPr>
        <p:spPr>
          <a:xfrm>
            <a:off x="1371600" y="4599335"/>
            <a:ext cx="6400800" cy="228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None/>
              <a:defRPr>
                <a:solidFill>
                  <a:srgbClr val="888CC5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None/>
              <a:defRPr>
                <a:solidFill>
                  <a:srgbClr val="888CC5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None/>
              <a:defRPr>
                <a:solidFill>
                  <a:srgbClr val="888CC5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None/>
              <a:defRPr>
                <a:solidFill>
                  <a:srgbClr val="888CC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3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3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4"/>
          <p:cNvSpPr txBox="1">
            <a:spLocks noGrp="1"/>
          </p:cNvSpPr>
          <p:nvPr>
            <p:ph type="title"/>
          </p:nvPr>
        </p:nvSpPr>
        <p:spPr>
          <a:xfrm>
            <a:off x="743140" y="927382"/>
            <a:ext cx="2713244" cy="16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">
  <p:cSld name="Финал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>
            <a:spLocks noGrp="1"/>
          </p:cNvSpPr>
          <p:nvPr>
            <p:ph type="title"/>
          </p:nvPr>
        </p:nvSpPr>
        <p:spPr>
          <a:xfrm>
            <a:off x="457200" y="2010279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body" idx="1"/>
          </p:nvPr>
        </p:nvSpPr>
        <p:spPr>
          <a:xfrm>
            <a:off x="457200" y="2787704"/>
            <a:ext cx="8229600" cy="59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  <a:defRPr>
                <a:solidFill>
                  <a:srgbClr val="FFFFFF"/>
                </a:solidFill>
              </a:defRPr>
            </a:lvl1pPr>
            <a:lvl2pPr marL="914400" lvl="1" indent="-228600" algn="ctr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  <a:defRPr>
                <a:solidFill>
                  <a:srgbClr val="FFFFFF"/>
                </a:solidFill>
              </a:defRPr>
            </a:lvl2pPr>
            <a:lvl3pPr marL="1371600" lvl="2" indent="-228600" algn="ctr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>
                <a:solidFill>
                  <a:srgbClr val="FFFFFF"/>
                </a:solidFill>
              </a:defRPr>
            </a:lvl3pPr>
            <a:lvl4pPr marL="1828800" lvl="3" indent="-228600" algn="ctr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>
                <a:solidFill>
                  <a:srgbClr val="FFFFFF"/>
                </a:solidFill>
              </a:defRPr>
            </a:lvl4pPr>
            <a:lvl5pPr marL="2286000" lvl="4" indent="-228600" algn="ctr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  <a:defRPr>
                <a:solidFill>
                  <a:srgbClr val="FFFFFF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body" idx="1"/>
          </p:nvPr>
        </p:nvSpPr>
        <p:spPr>
          <a:xfrm>
            <a:off x="457200" y="1746133"/>
            <a:ext cx="6273934" cy="284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kfql">
  <p:cSld name="Ckfql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457200" y="1759937"/>
            <a:ext cx="4038600" cy="283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648200" y="1759937"/>
            <a:ext cx="4038600" cy="283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ftr" idx="11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body" idx="1"/>
          </p:nvPr>
        </p:nvSpPr>
        <p:spPr>
          <a:xfrm>
            <a:off x="457199" y="1759937"/>
            <a:ext cx="5018388" cy="2943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2" name="Google Shape;62;p17"/>
          <p:cNvSpPr>
            <a:spLocks noGrp="1"/>
          </p:cNvSpPr>
          <p:nvPr>
            <p:ph type="pic" idx="2"/>
          </p:nvPr>
        </p:nvSpPr>
        <p:spPr>
          <a:xfrm>
            <a:off x="5659438" y="1759744"/>
            <a:ext cx="3027362" cy="1414463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7"/>
          <p:cNvSpPr>
            <a:spLocks noGrp="1"/>
          </p:cNvSpPr>
          <p:nvPr>
            <p:ph type="pic" idx="3"/>
          </p:nvPr>
        </p:nvSpPr>
        <p:spPr>
          <a:xfrm>
            <a:off x="5659438" y="3288506"/>
            <a:ext cx="3027362" cy="141446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457200" y="927498"/>
            <a:ext cx="8229600" cy="620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ftr" idx="11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>
            <a:spLocks noGrp="1"/>
          </p:cNvSpPr>
          <p:nvPr>
            <p:ph type="pic" idx="2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</p:sp>
      <p:sp>
        <p:nvSpPr>
          <p:cNvPr id="69" name="Google Shape;69;p18"/>
          <p:cNvSpPr>
            <a:spLocks noGrp="1"/>
          </p:cNvSpPr>
          <p:nvPr>
            <p:ph type="pic" idx="3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</p:sp>
      <p:sp>
        <p:nvSpPr>
          <p:cNvPr id="70" name="Google Shape;70;p18"/>
          <p:cNvSpPr>
            <a:spLocks noGrp="1"/>
          </p:cNvSpPr>
          <p:nvPr>
            <p:ph type="pic" idx="4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</p:sp>
      <p:sp>
        <p:nvSpPr>
          <p:cNvPr id="71" name="Google Shape;71;p18"/>
          <p:cNvSpPr txBox="1">
            <a:spLocks noGrp="1"/>
          </p:cNvSpPr>
          <p:nvPr>
            <p:ph type="body" idx="1"/>
          </p:nvPr>
        </p:nvSpPr>
        <p:spPr>
          <a:xfrm>
            <a:off x="457201" y="2899173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5"/>
          </p:nvPr>
        </p:nvSpPr>
        <p:spPr>
          <a:xfrm>
            <a:off x="3275819" y="2899173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6"/>
          </p:nvPr>
        </p:nvSpPr>
        <p:spPr>
          <a:xfrm>
            <a:off x="6085706" y="2899173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7"/>
          </p:nvPr>
        </p:nvSpPr>
        <p:spPr>
          <a:xfrm>
            <a:off x="457200" y="3319723"/>
            <a:ext cx="4038600" cy="12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body" idx="8"/>
          </p:nvPr>
        </p:nvSpPr>
        <p:spPr>
          <a:xfrm>
            <a:off x="4648200" y="3319723"/>
            <a:ext cx="4038600" cy="12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457199" y="1759937"/>
            <a:ext cx="5018388" cy="2943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9"/>
          <p:cNvSpPr>
            <a:spLocks noGrp="1"/>
          </p:cNvSpPr>
          <p:nvPr>
            <p:ph type="pic" idx="2"/>
          </p:nvPr>
        </p:nvSpPr>
        <p:spPr>
          <a:xfrm>
            <a:off x="5659439" y="1770130"/>
            <a:ext cx="3036565" cy="2919036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9"/>
          <p:cNvSpPr txBox="1">
            <a:spLocks noGrp="1"/>
          </p:cNvSpPr>
          <p:nvPr>
            <p:ph type="ftr" idx="11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 txBox="1">
            <a:spLocks noGrp="1"/>
          </p:cNvSpPr>
          <p:nvPr>
            <p:ph type="ftr" idx="11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4030768" y="329462"/>
            <a:ext cx="465603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10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MOPython-202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hyperlink" Target="mailto:shorokhov_sa@itmo.ru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MOPython-2022/OneLastJob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manBakhtairov/TypeGam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Yarik500/PythonProject" TargetMode="External"/><Relationship Id="rId5" Type="http://schemas.openxmlformats.org/officeDocument/2006/relationships/hyperlink" Target="https://github.com/ViktorDanilin/Gestures/tree/main" TargetMode="External"/><Relationship Id="rId4" Type="http://schemas.openxmlformats.org/officeDocument/2006/relationships/hyperlink" Target="https://github.com/paradise900/result_project_python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1444487" y="2104557"/>
            <a:ext cx="6400800" cy="705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ru-RU" sz="4000"/>
              <a:t>Программирование на Python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body" idx="2"/>
          </p:nvPr>
        </p:nvSpPr>
        <p:spPr>
          <a:xfrm>
            <a:off x="1371600" y="3637205"/>
            <a:ext cx="6400800" cy="462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ru-RU" sz="2000"/>
              <a:t>Шорохов Сергей Александрович, ассистент</a:t>
            </a:r>
            <a:endParaRPr sz="2000"/>
          </a:p>
          <a:p>
            <a:pPr marL="0" lvl="0" indent="0" algn="ctr" rtl="0">
              <a:spcBef>
                <a:spcPts val="224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ru-RU"/>
              <a:t>shorokhov_sa@itmo.ru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2458610" y="2762090"/>
            <a:ext cx="42267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(лабораторная часть)</a:t>
            </a:r>
            <a:endParaRPr sz="2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308496" y="1599993"/>
            <a:ext cx="5965438" cy="617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ru-RU" sz="2400" b="1" dirty="0">
                <a:solidFill>
                  <a:srgbClr val="000000"/>
                </a:solidFill>
              </a:rPr>
              <a:t>2 семестр </a:t>
            </a:r>
            <a:r>
              <a:rPr lang="ru-RU" sz="2400" dirty="0">
                <a:solidFill>
                  <a:srgbClr val="000000"/>
                </a:solidFill>
              </a:rPr>
              <a:t>курса включает в себя: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308496" y="2240346"/>
            <a:ext cx="7689190" cy="164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Лекционные занятия (читает доцент Афанасьев М. Я.);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5 тестов на теорию и практику (в системе </a:t>
            </a:r>
            <a:r>
              <a:rPr lang="en-US" sz="2400" dirty="0">
                <a:solidFill>
                  <a:srgbClr val="000000"/>
                </a:solidFill>
              </a:rPr>
              <a:t>Moodle</a:t>
            </a:r>
            <a:r>
              <a:rPr lang="ru-RU" sz="2400" dirty="0">
                <a:solidFill>
                  <a:srgbClr val="000000"/>
                </a:solidFill>
              </a:rPr>
              <a:t>)</a:t>
            </a:r>
            <a:r>
              <a:rPr lang="en-US" sz="2400" dirty="0">
                <a:solidFill>
                  <a:srgbClr val="000000"/>
                </a:solidFill>
              </a:rPr>
              <a:t>;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4 лабораторные работы</a:t>
            </a:r>
            <a:endParaRPr lang="en-US" sz="2400" dirty="0">
              <a:solidFill>
                <a:srgbClr val="000000"/>
              </a:solidFill>
            </a:endParaRP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</a:rPr>
              <a:t>Итоговый командный проект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308497" y="739681"/>
            <a:ext cx="544007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Сегодня </a:t>
            </a:r>
            <a:r>
              <a:rPr lang="ru-RU" sz="2400" b="1" dirty="0"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ru-RU" sz="2400" dirty="0">
                <a:latin typeface="Calibri"/>
                <a:ea typeface="Calibri"/>
                <a:cs typeface="Calibri"/>
                <a:sym typeface="Calibri"/>
              </a:rPr>
              <a:t>февраля</a:t>
            </a:r>
            <a:r>
              <a:rPr lang="ru-RU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ru-RU" sz="2400" b="1" dirty="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2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учебная неделя</a:t>
            </a:r>
            <a:endParaRPr dirty="0"/>
          </a:p>
        </p:txBody>
      </p:sp>
      <p:sp>
        <p:nvSpPr>
          <p:cNvPr id="2" name="Google Shape;108;p4">
            <a:extLst>
              <a:ext uri="{FF2B5EF4-FFF2-40B4-BE49-F238E27FC236}">
                <a16:creationId xmlns:a16="http://schemas.microsoft.com/office/drawing/2014/main" id="{194C9CB6-601A-A877-A643-E5EC38DAE7AA}"/>
              </a:ext>
            </a:extLst>
          </p:cNvPr>
          <p:cNvSpPr txBox="1">
            <a:spLocks/>
          </p:cNvSpPr>
          <p:nvPr/>
        </p:nvSpPr>
        <p:spPr>
          <a:xfrm>
            <a:off x="0" y="-49124"/>
            <a:ext cx="6273934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b="1" dirty="0">
                <a:solidFill>
                  <a:srgbClr val="000000"/>
                </a:solidFill>
              </a:rPr>
              <a:t>Введение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0" y="-8167"/>
            <a:ext cx="6273934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ru-RU" dirty="0"/>
              <a:t>Рекомендации и состав работ</a:t>
            </a:r>
            <a:endParaRPr dirty="0"/>
          </a:p>
        </p:txBody>
      </p:sp>
      <p:sp>
        <p:nvSpPr>
          <p:cNvPr id="109" name="Google Shape;109;p4"/>
          <p:cNvSpPr txBox="1">
            <a:spLocks noGrp="1"/>
          </p:cNvSpPr>
          <p:nvPr>
            <p:ph type="body" idx="1"/>
          </p:nvPr>
        </p:nvSpPr>
        <p:spPr>
          <a:xfrm>
            <a:off x="135731" y="620483"/>
            <a:ext cx="8209722" cy="4394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Arial"/>
              <a:buChar char="•"/>
            </a:pPr>
            <a:r>
              <a:rPr lang="ru-RU" sz="2000" dirty="0"/>
              <a:t>Срок выполнения одной работы – </a:t>
            </a:r>
            <a:r>
              <a:rPr lang="en-US" sz="2000" dirty="0"/>
              <a:t>3</a:t>
            </a:r>
            <a:r>
              <a:rPr lang="ru-RU" sz="2000" dirty="0"/>
              <a:t> недели;</a:t>
            </a:r>
            <a:endParaRPr sz="20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Arial"/>
              <a:buChar char="•"/>
            </a:pPr>
            <a:r>
              <a:rPr lang="ru-RU" sz="2000" dirty="0"/>
              <a:t>Использование системы контроля версий </a:t>
            </a:r>
            <a:r>
              <a:rPr lang="ru-RU" sz="2000" dirty="0" err="1"/>
              <a:t>Git</a:t>
            </a:r>
            <a:r>
              <a:rPr lang="ru-RU" sz="2000" dirty="0"/>
              <a:t> и сайта github.com для загрузки выполненных работ;</a:t>
            </a:r>
            <a:endParaRPr sz="20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Arial"/>
              <a:buChar char="•"/>
            </a:pPr>
            <a:r>
              <a:rPr lang="ru-RU" sz="2000" dirty="0"/>
              <a:t>Использование IDE </a:t>
            </a:r>
            <a:r>
              <a:rPr lang="ru-RU" sz="2000" dirty="0" err="1"/>
              <a:t>PyCharm</a:t>
            </a:r>
            <a:r>
              <a:rPr lang="ru-RU" sz="2000" dirty="0"/>
              <a:t> или </a:t>
            </a:r>
            <a:r>
              <a:rPr lang="en-US" sz="2000" dirty="0"/>
              <a:t>VS Code</a:t>
            </a:r>
            <a:r>
              <a:rPr lang="ru-RU" sz="2000" dirty="0"/>
              <a:t>.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Arial"/>
              <a:buChar char="•"/>
            </a:pPr>
            <a:endParaRPr lang="ru-RU" sz="2000" dirty="0"/>
          </a:p>
          <a:p>
            <a:pPr lvl="0" indent="-45720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+mj-lt"/>
              <a:buAutoNum type="arabicPeriod"/>
            </a:pPr>
            <a:r>
              <a:rPr lang="ru-RU" sz="2000" dirty="0"/>
              <a:t>Работа с </a:t>
            </a:r>
            <a:r>
              <a:rPr lang="en-US" sz="2000" dirty="0"/>
              <a:t>API</a:t>
            </a:r>
            <a:r>
              <a:rPr lang="ru-RU" sz="2000" dirty="0"/>
              <a:t> (</a:t>
            </a:r>
            <a:r>
              <a:rPr lang="en-US" sz="2000" dirty="0"/>
              <a:t>Requests</a:t>
            </a:r>
            <a:r>
              <a:rPr lang="ru-RU" sz="2000" dirty="0"/>
              <a:t>)</a:t>
            </a:r>
            <a:r>
              <a:rPr lang="en-US" sz="2000" dirty="0"/>
              <a:t>;</a:t>
            </a:r>
          </a:p>
          <a:p>
            <a:pPr lvl="0" indent="-45720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+mj-lt"/>
              <a:buAutoNum type="arabicPeriod"/>
            </a:pPr>
            <a:r>
              <a:rPr lang="ru-RU" sz="2000" dirty="0"/>
              <a:t>Техническое зрение (</a:t>
            </a:r>
            <a:r>
              <a:rPr lang="en-US" sz="2000" dirty="0"/>
              <a:t>OpenCV</a:t>
            </a:r>
            <a:r>
              <a:rPr lang="ru-RU" sz="2000" dirty="0"/>
              <a:t>)</a:t>
            </a:r>
            <a:r>
              <a:rPr lang="en-US" sz="2000" dirty="0"/>
              <a:t>;</a:t>
            </a:r>
          </a:p>
          <a:p>
            <a:pPr lvl="0" indent="-45720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+mj-lt"/>
              <a:buAutoNum type="arabicPeriod"/>
            </a:pPr>
            <a:r>
              <a:rPr lang="ru-RU" sz="2000" dirty="0"/>
              <a:t>Веб-приложение (</a:t>
            </a:r>
            <a:r>
              <a:rPr lang="en-US" sz="2000" dirty="0"/>
              <a:t>Flask, </a:t>
            </a:r>
            <a:r>
              <a:rPr lang="en-US" sz="2000" dirty="0" err="1"/>
              <a:t>flask_sqlalchemy</a:t>
            </a:r>
            <a:r>
              <a:rPr lang="en-US" sz="2000" dirty="0"/>
              <a:t>, </a:t>
            </a:r>
            <a:r>
              <a:rPr lang="en-US" sz="2000" dirty="0" err="1"/>
              <a:t>flask_migrate</a:t>
            </a:r>
            <a:r>
              <a:rPr lang="ru-RU" sz="2000" dirty="0"/>
              <a:t>)</a:t>
            </a:r>
            <a:r>
              <a:rPr lang="en-US" sz="2000" dirty="0"/>
              <a:t>;</a:t>
            </a:r>
          </a:p>
          <a:p>
            <a:pPr lvl="0" indent="-45720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+mj-lt"/>
              <a:buAutoNum type="arabicPeriod"/>
            </a:pPr>
            <a:r>
              <a:rPr lang="ru-RU" sz="2000" dirty="0"/>
              <a:t>Голосовой ассистент (</a:t>
            </a:r>
            <a:r>
              <a:rPr lang="en-US" sz="2000" dirty="0"/>
              <a:t>Pyttsx3 </a:t>
            </a:r>
            <a:r>
              <a:rPr lang="ru-RU" sz="2000" dirty="0"/>
              <a:t>и</a:t>
            </a:r>
            <a:r>
              <a:rPr lang="en-US" sz="2000" dirty="0"/>
              <a:t> </a:t>
            </a:r>
            <a:r>
              <a:rPr lang="en-US" sz="2000" dirty="0" err="1"/>
              <a:t>Vosk</a:t>
            </a:r>
            <a:r>
              <a:rPr lang="ru-RU" sz="2000" dirty="0"/>
              <a:t>)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133693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0" y="57994"/>
            <a:ext cx="6273934" cy="47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dirty="0"/>
              <a:t>Лабораторные работы</a:t>
            </a:r>
            <a:endParaRPr dirty="0"/>
          </a:p>
        </p:txBody>
      </p:sp>
      <p:sp>
        <p:nvSpPr>
          <p:cNvPr id="103" name="Google Shape;103;p3"/>
          <p:cNvSpPr txBox="1">
            <a:spLocks noGrp="1"/>
          </p:cNvSpPr>
          <p:nvPr>
            <p:ph type="body" idx="1"/>
          </p:nvPr>
        </p:nvSpPr>
        <p:spPr>
          <a:xfrm>
            <a:off x="247650" y="686555"/>
            <a:ext cx="5408233" cy="46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Calibri"/>
              <a:buNone/>
            </a:pPr>
            <a:r>
              <a:rPr lang="ru-RU" sz="2000" dirty="0"/>
              <a:t>Выполнение: индивидуальное</a:t>
            </a: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Calibri"/>
              <a:buNone/>
            </a:pPr>
            <a:endParaRPr lang="ru-RU" sz="20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Calibri"/>
              <a:buNone/>
            </a:pPr>
            <a:r>
              <a:rPr lang="ru-RU" sz="2000" dirty="0"/>
              <a:t>Репозитории с заданиями и сопутствующими файлами: </a:t>
            </a:r>
            <a:r>
              <a:rPr lang="en-US" sz="2000" i="1" dirty="0">
                <a:hlinkClick r:id="rId3"/>
              </a:rPr>
              <a:t>https://github.com/ITMOPython-2022</a:t>
            </a:r>
            <a:endParaRPr lang="ru-RU" sz="2000" i="1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Calibri"/>
              <a:buNone/>
            </a:pPr>
            <a:endParaRPr lang="ru-RU" sz="20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Calibri"/>
              <a:buNone/>
            </a:pPr>
            <a:r>
              <a:rPr lang="ru-RU" sz="2000" dirty="0"/>
              <a:t>При загрузке кода лабораторной работы нужно выполнить </a:t>
            </a:r>
            <a:r>
              <a:rPr lang="ru-RU" sz="2000" dirty="0" err="1"/>
              <a:t>форк</a:t>
            </a:r>
            <a:r>
              <a:rPr lang="ru-RU" sz="2000" dirty="0"/>
              <a:t> соответствующего репозитория с заданием. Ссылку на репозиторий с заданием присылать на </a:t>
            </a:r>
            <a:r>
              <a:rPr lang="en-US" sz="2000" dirty="0">
                <a:hlinkClick r:id="rId4"/>
              </a:rPr>
              <a:t>shorokhov_sa@itmo.ru</a:t>
            </a:r>
            <a:endParaRPr lang="en-US" sz="20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Calibri"/>
              <a:buNone/>
            </a:pPr>
            <a:endParaRPr lang="en-US" sz="20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Calibri"/>
              <a:buNone/>
            </a:pPr>
            <a:r>
              <a:rPr lang="ru-RU" sz="2000" b="1" dirty="0"/>
              <a:t>	        Делать отчет на бумаге не нужно!</a:t>
            </a:r>
            <a:endParaRPr sz="2000" b="1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Calibri"/>
              <a:buNone/>
            </a:pP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rgbClr val="1946BA"/>
              </a:buClr>
              <a:buSzPts val="2400"/>
              <a:buFont typeface="Calibri"/>
              <a:buNone/>
            </a:pP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5D758E-AF72-463B-38EF-0D7FF6431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181" y="1335881"/>
            <a:ext cx="3028169" cy="30218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>
            <a:spLocks noGrp="1"/>
          </p:cNvSpPr>
          <p:nvPr>
            <p:ph type="title"/>
          </p:nvPr>
        </p:nvSpPr>
        <p:spPr>
          <a:xfrm>
            <a:off x="0" y="64294"/>
            <a:ext cx="6273934" cy="47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-RU" dirty="0"/>
              <a:t>Баллы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Google Shape;103;p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71061" y="743704"/>
                <a:ext cx="8572914" cy="43997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l" rtl="0">
                  <a:spcBef>
                    <a:spcPts val="480"/>
                  </a:spcBef>
                  <a:spcAft>
                    <a:spcPts val="0"/>
                  </a:spcAft>
                  <a:buClr>
                    <a:srgbClr val="1946BA"/>
                  </a:buClr>
                  <a:buSzPts val="2400"/>
                  <a:buFont typeface="Calibri"/>
                  <a:buNone/>
                </a:pPr>
                <a:r>
                  <a:rPr lang="ru-RU" sz="1800" dirty="0"/>
                  <a:t>«Стоимость» одной работы – </a:t>
                </a:r>
                <a:r>
                  <a:rPr lang="en-US" sz="1800" b="1" dirty="0"/>
                  <a:t>8</a:t>
                </a:r>
                <a:r>
                  <a:rPr lang="ru-RU" sz="1800" dirty="0"/>
                  <a:t> баллов в системе </a:t>
                </a:r>
                <a:r>
                  <a:rPr lang="ru-RU" sz="1800" dirty="0" err="1"/>
                  <a:t>БаРС</a:t>
                </a:r>
                <a:r>
                  <a:rPr lang="ru-RU" sz="1800" dirty="0"/>
                  <a:t>.</a:t>
                </a:r>
              </a:p>
              <a:p>
                <a:pPr marL="0" lvl="0" indent="0" algn="l" rtl="0">
                  <a:spcBef>
                    <a:spcPts val="480"/>
                  </a:spcBef>
                  <a:spcAft>
                    <a:spcPts val="0"/>
                  </a:spcAft>
                  <a:buClr>
                    <a:srgbClr val="1946BA"/>
                  </a:buClr>
                  <a:buSzPts val="2400"/>
                  <a:buFont typeface="Calibri"/>
                  <a:buNone/>
                </a:pPr>
                <a:r>
                  <a:rPr lang="ru-RU" sz="1800" dirty="0"/>
                  <a:t>Каждая работа имеет дополнительное задание – выполнение дает +</a:t>
                </a:r>
                <a:r>
                  <a:rPr lang="en-US" sz="1800" dirty="0"/>
                  <a:t>2</a:t>
                </a:r>
                <a:r>
                  <a:rPr lang="ru-RU" sz="1800" dirty="0"/>
                  <a:t> балла.</a:t>
                </a:r>
                <a:endParaRPr lang="ru-RU" sz="1800" b="1" dirty="0"/>
              </a:p>
              <a:p>
                <a:pPr marL="0" lvl="0" indent="0" algn="l" rtl="0">
                  <a:spcBef>
                    <a:spcPts val="480"/>
                  </a:spcBef>
                  <a:spcAft>
                    <a:spcPts val="0"/>
                  </a:spcAft>
                  <a:buClr>
                    <a:srgbClr val="1946BA"/>
                  </a:buClr>
                  <a:buSzPts val="2400"/>
                  <a:buFont typeface="Calibri"/>
                  <a:buNone/>
                </a:pPr>
                <a:r>
                  <a:rPr lang="ru-RU" sz="1800" b="1" dirty="0"/>
                  <a:t>Сроки: </a:t>
                </a:r>
              </a:p>
              <a:p>
                <a:pPr marL="342900" indent="-342900">
                  <a:buClr>
                    <a:srgbClr val="1946BA"/>
                  </a:buClr>
                </a:pPr>
                <a:r>
                  <a:rPr lang="ru-RU" sz="1800" dirty="0"/>
                  <a:t>soft-дедлайн – 2 недели (+1 балл)</a:t>
                </a:r>
              </a:p>
              <a:p>
                <a:pPr marL="342900" indent="-342900">
                  <a:buClr>
                    <a:srgbClr val="1946BA"/>
                  </a:buClr>
                </a:pPr>
                <a:r>
                  <a:rPr lang="ru-RU" sz="1800" dirty="0"/>
                  <a:t>дедлайн: 3 недели (номинальное значение)</a:t>
                </a:r>
              </a:p>
              <a:p>
                <a:pPr marL="342900" indent="-342900">
                  <a:buClr>
                    <a:srgbClr val="1946BA"/>
                  </a:buClr>
                </a:pPr>
                <a:r>
                  <a:rPr lang="ru-RU" sz="1800" dirty="0"/>
                  <a:t>далее: минус 0.5 балла за каждую неделю опоздания</a:t>
                </a:r>
              </a:p>
              <a:p>
                <a:pPr marL="342900" indent="-342900">
                  <a:buClr>
                    <a:srgbClr val="1946BA"/>
                  </a:buClr>
                </a:pPr>
                <a:endParaRPr lang="ru-RU" sz="1800" dirty="0"/>
              </a:p>
              <a:p>
                <a:pPr marL="0" indent="0">
                  <a:buClr>
                    <a:srgbClr val="1946BA"/>
                  </a:buClr>
                  <a:buNone/>
                </a:pPr>
                <a:r>
                  <a:rPr lang="ru-RU" sz="1800" dirty="0"/>
                  <a:t>Тесты оцениваются в 5 баллов (1-4 тесты) и 8 баллов (финальный тест).</a:t>
                </a:r>
              </a:p>
              <a:p>
                <a:pPr marL="0" indent="0">
                  <a:buClr>
                    <a:srgbClr val="1946BA"/>
                  </a:buClr>
                  <a:buNone/>
                </a:pPr>
                <a:endParaRPr lang="ru-RU" sz="1800" dirty="0"/>
              </a:p>
              <a:p>
                <a:pPr marL="0" indent="0">
                  <a:buClr>
                    <a:srgbClr val="1946BA"/>
                  </a:buClr>
                  <a:buNone/>
                </a:pPr>
                <a:r>
                  <a:rPr lang="ru-RU" sz="1800" dirty="0"/>
                  <a:t>Итоговый проект – 40 баллов.</a:t>
                </a:r>
              </a:p>
              <a:p>
                <a:pPr marL="0" indent="0">
                  <a:buClr>
                    <a:srgbClr val="1946BA"/>
                  </a:buClr>
                  <a:buNone/>
                </a:pPr>
                <a:endParaRPr lang="ru-RU" sz="1800" dirty="0"/>
              </a:p>
              <a:p>
                <a:pPr marL="0" indent="0">
                  <a:buClr>
                    <a:srgbClr val="1946BA"/>
                  </a:buClr>
                  <a:buNone/>
                </a:pPr>
                <a:r>
                  <a:rPr lang="ru-RU" sz="1800" dirty="0"/>
                  <a:t>		</a:t>
                </a:r>
                <a:r>
                  <a:rPr lang="ru-RU" sz="1800" b="1" dirty="0"/>
                  <a:t>Итого: </a:t>
                </a:r>
                <a14:m>
                  <m:oMath xmlns:m="http://schemas.openxmlformats.org/officeDocument/2006/math">
                    <m:r>
                      <a:rPr lang="ru-RU" sz="1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𝟒𝟎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ru-RU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ru-RU" sz="1800" b="1" dirty="0"/>
                  <a:t> баллов.</a:t>
                </a:r>
              </a:p>
              <a:p>
                <a:pPr marL="0" lvl="0" indent="0" algn="l" rtl="0">
                  <a:spcBef>
                    <a:spcPts val="480"/>
                  </a:spcBef>
                  <a:spcAft>
                    <a:spcPts val="0"/>
                  </a:spcAft>
                  <a:buClr>
                    <a:srgbClr val="1946BA"/>
                  </a:buClr>
                  <a:buSzPts val="2400"/>
                  <a:buFont typeface="Calibri"/>
                  <a:buNone/>
                </a:pPr>
                <a:endParaRPr sz="2000" dirty="0"/>
              </a:p>
            </p:txBody>
          </p:sp>
        </mc:Choice>
        <mc:Fallback xmlns="">
          <p:sp>
            <p:nvSpPr>
              <p:cNvPr id="103" name="Google Shape;103;p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71061" y="743704"/>
                <a:ext cx="8572914" cy="4399795"/>
              </a:xfrm>
              <a:prstGeom prst="rect">
                <a:avLst/>
              </a:prstGeom>
              <a:blipFill>
                <a:blip r:embed="rId3"/>
                <a:stretch>
                  <a:fillRect l="-11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130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0" y="-15311"/>
            <a:ext cx="6273934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ru-RU" dirty="0"/>
              <a:t>Финальный проект</a:t>
            </a:r>
            <a:endParaRPr dirty="0"/>
          </a:p>
        </p:txBody>
      </p:sp>
      <p:sp>
        <p:nvSpPr>
          <p:cNvPr id="115" name="Google Shape;115;p5"/>
          <p:cNvSpPr txBox="1">
            <a:spLocks noGrp="1"/>
          </p:cNvSpPr>
          <p:nvPr>
            <p:ph type="body" idx="1"/>
          </p:nvPr>
        </p:nvSpPr>
        <p:spPr>
          <a:xfrm>
            <a:off x="257820" y="620483"/>
            <a:ext cx="8209722" cy="3587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Выполняется в группах по 3-4 человека с разделением обязанностей.</a:t>
            </a:r>
            <a:endParaRPr lang="ru-RU" sz="2000" b="1" dirty="0"/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(Можно и одному, если вы уверены в своих силах)</a:t>
            </a: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ru-RU" sz="2000" dirty="0"/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Темы и требования: </a:t>
            </a:r>
            <a:r>
              <a:rPr lang="en-US" sz="2000" i="1" dirty="0">
                <a:hlinkClick r:id="rId3"/>
              </a:rPr>
              <a:t>https://github.com/ITMOPython-2022/OneLastJob</a:t>
            </a:r>
            <a:endParaRPr lang="ru-RU" sz="2000" i="1" dirty="0"/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Можно (и даже желательно) придумать свою тему проекта.</a:t>
            </a: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ru-RU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7C92987-1BBD-FB1B-538E-A8E992AFC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>
            <a:extLst>
              <a:ext uri="{FF2B5EF4-FFF2-40B4-BE49-F238E27FC236}">
                <a16:creationId xmlns:a16="http://schemas.microsoft.com/office/drawing/2014/main" id="{5D6C73F0-83BA-E51D-045A-8761C0F387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5311"/>
            <a:ext cx="6273934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ru-RU" dirty="0"/>
              <a:t>Примеры проектов прошлых лет</a:t>
            </a:r>
            <a:endParaRPr dirty="0"/>
          </a:p>
        </p:txBody>
      </p:sp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49F1B1DE-662F-DC80-FD54-820AE7B1B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7820" y="485775"/>
            <a:ext cx="8209722" cy="4493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400" b="1" dirty="0" err="1"/>
              <a:t>TypeGame</a:t>
            </a:r>
            <a:r>
              <a:rPr lang="en-US" sz="1400" b="1" dirty="0"/>
              <a:t>: </a:t>
            </a:r>
            <a:r>
              <a:rPr lang="ru-RU" sz="1400" b="1" dirty="0"/>
              <a:t>битва за слова </a:t>
            </a: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400" dirty="0">
                <a:hlinkClick r:id="rId3"/>
              </a:rPr>
              <a:t>https://github.com/RomanBakhtairov/TypeGame</a:t>
            </a:r>
            <a:endParaRPr lang="ru-RU" sz="1400" dirty="0"/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ru-RU" sz="1400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400" b="1" i="0" dirty="0" err="1">
                <a:solidFill>
                  <a:srgbClr val="1F2328"/>
                </a:solidFill>
                <a:effectLst/>
                <a:latin typeface="-apple-system"/>
              </a:rPr>
              <a:t>NeuroAuto</a:t>
            </a:r>
            <a:r>
              <a:rPr lang="ru-RU" sz="1400" b="1" dirty="0">
                <a:solidFill>
                  <a:srgbClr val="1F2328"/>
                </a:solidFill>
                <a:latin typeface="-apple-system"/>
              </a:rPr>
              <a:t> – подбор цены автомобиля по вводимым параметрам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400" dirty="0">
                <a:hlinkClick r:id="rId4"/>
              </a:rPr>
              <a:t>https://github.com/paradise900/result_project_python</a:t>
            </a:r>
            <a:endParaRPr lang="ru-RU" sz="1400" b="1" dirty="0">
              <a:solidFill>
                <a:srgbClr val="1F2328"/>
              </a:solidFill>
              <a:latin typeface="-apple-system"/>
            </a:endParaRP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ru-RU" sz="1400" b="1" dirty="0">
              <a:solidFill>
                <a:srgbClr val="1F2328"/>
              </a:solidFill>
              <a:latin typeface="-apple-system"/>
            </a:endParaRP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ru-RU" sz="1400" b="1" dirty="0"/>
              <a:t>Переводчик с языка жестов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400" dirty="0">
                <a:hlinkClick r:id="rId5"/>
              </a:rPr>
              <a:t>https://github.com/ViktorDanilin/Gestures/tree/main</a:t>
            </a:r>
            <a:endParaRPr lang="ru-RU" sz="1400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ru-RU" sz="1400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ru-RU" sz="1400" b="1" dirty="0"/>
              <a:t>Бот для контроля посещаемости на объекте</a:t>
            </a:r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z="1400" dirty="0">
                <a:hlinkClick r:id="rId6"/>
              </a:rPr>
              <a:t>https://github.com/Yarik500/PythonProject</a:t>
            </a:r>
            <a:endParaRPr lang="ru-RU" sz="1400" dirty="0"/>
          </a:p>
          <a:p>
            <a:pPr marL="0" indent="0">
              <a:lnSpc>
                <a:spcPct val="160000"/>
              </a:lnSpc>
              <a:spcBef>
                <a:spcPts val="0"/>
              </a:spcBef>
              <a:buNone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969129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AE9109B-0300-0324-6436-0C6A7E1F2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>
            <a:extLst>
              <a:ext uri="{FF2B5EF4-FFF2-40B4-BE49-F238E27FC236}">
                <a16:creationId xmlns:a16="http://schemas.microsoft.com/office/drawing/2014/main" id="{7F9CF70D-6F91-0E76-65AF-8F9D8BEF82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6273934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ru-RU" dirty="0"/>
              <a:t>Финальный проект – защита</a:t>
            </a:r>
            <a:endParaRPr dirty="0"/>
          </a:p>
        </p:txBody>
      </p:sp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46BBE4C0-F332-33D4-354D-04698BB2E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7820" y="620483"/>
            <a:ext cx="8209722" cy="3851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Проводится в день экзамена по предмету (июнь) и, по сути, заменяет его.</a:t>
            </a: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ru-RU" sz="2000" dirty="0"/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Доклад на 3-4 минуты с презентацией. В презентации нужно отразить:</a:t>
            </a: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- постановку задачи, </a:t>
            </a: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- используемые библиотеки и ПО, </a:t>
            </a: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- структурную схему проекта (например, блок-схема или </a:t>
            </a:r>
            <a:r>
              <a:rPr lang="en-US" sz="2000" dirty="0"/>
              <a:t>UML</a:t>
            </a:r>
            <a:r>
              <a:rPr lang="ru-RU" sz="2000" dirty="0"/>
              <a:t>-диаграммы) </a:t>
            </a: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- результаты работы. </a:t>
            </a:r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ru-RU" sz="2000" dirty="0"/>
          </a:p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000" dirty="0"/>
              <a:t>Желательно резюме от каждого участника.</a:t>
            </a:r>
          </a:p>
        </p:txBody>
      </p:sp>
    </p:spTree>
    <p:extLst>
      <p:ext uri="{BB962C8B-B14F-4D97-AF65-F5344CB8AC3E}">
        <p14:creationId xmlns:p14="http://schemas.microsoft.com/office/powerpoint/2010/main" val="1780849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6273934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ru-RU" dirty="0"/>
              <a:t>Группа в </a:t>
            </a:r>
            <a:r>
              <a:rPr lang="en-US" dirty="0"/>
              <a:t>Telegram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B6FC8B-8788-623A-DFB6-606FF94FC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047" y="878682"/>
            <a:ext cx="3821906" cy="382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33710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Custom 1">
      <a:dk1>
        <a:srgbClr val="0230AC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over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464</Words>
  <Application>Microsoft Office PowerPoint</Application>
  <PresentationFormat>Экран (16:9)</PresentationFormat>
  <Paragraphs>70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-apple-system</vt:lpstr>
      <vt:lpstr>Arial</vt:lpstr>
      <vt:lpstr>Calibri</vt:lpstr>
      <vt:lpstr>Cambria Math</vt:lpstr>
      <vt:lpstr>Cover</vt:lpstr>
      <vt:lpstr>1_Cover</vt:lpstr>
      <vt:lpstr>Программирование на Python</vt:lpstr>
      <vt:lpstr>2 семестр курса включает в себя:</vt:lpstr>
      <vt:lpstr>Рекомендации и состав работ</vt:lpstr>
      <vt:lpstr>Лабораторные работы</vt:lpstr>
      <vt:lpstr>Баллы</vt:lpstr>
      <vt:lpstr>Финальный проект</vt:lpstr>
      <vt:lpstr>Примеры проектов прошлых лет</vt:lpstr>
      <vt:lpstr>Финальный проект – защита</vt:lpstr>
      <vt:lpstr>Группа в Telegram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Python</dc:title>
  <dc:creator>Al</dc:creator>
  <cp:lastModifiedBy>Шорохов Сергей Александрович</cp:lastModifiedBy>
  <cp:revision>16</cp:revision>
  <dcterms:created xsi:type="dcterms:W3CDTF">2014-06-27T12:30:22Z</dcterms:created>
  <dcterms:modified xsi:type="dcterms:W3CDTF">2025-02-06T08:59:41Z</dcterms:modified>
</cp:coreProperties>
</file>